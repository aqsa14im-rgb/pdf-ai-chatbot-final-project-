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• AI &amp; DATA SCIENCE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3232" y="137160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PDF-Powered AI Chatbot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7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Conceptual Q&amp;A Assistant for Python, AI, Machine Learning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7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 Science Learning Material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3152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4453128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4576572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44531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Azalfah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2743200" y="4453128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644" y="4576572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44531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Aqsa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5504688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5628132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55046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Ma'am Sumaira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8641080" y="2103120"/>
            <a:ext cx="2834640" cy="2834640"/>
          </a:xfrm>
          <a:prstGeom prst="ellipse">
            <a:avLst/>
          </a:prstGeom>
          <a:solidFill>
            <a:srgbClr val="1C2348"/>
          </a:solidFill>
          <a:ln/>
        </p:spPr>
      </p:sp>
      <p:sp>
        <p:nvSpPr>
          <p:cNvPr id="17" name="Shape 12"/>
          <p:cNvSpPr/>
          <p:nvPr/>
        </p:nvSpPr>
        <p:spPr>
          <a:xfrm>
            <a:off x="9281160" y="2743200"/>
            <a:ext cx="1554480" cy="155448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0870" y="3162910"/>
            <a:ext cx="715061" cy="715061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275320" y="1737360"/>
            <a:ext cx="914400" cy="9144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1984248"/>
            <a:ext cx="420624" cy="420624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10927080" y="1737360"/>
            <a:ext cx="914400" cy="9144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3968" y="1984248"/>
            <a:ext cx="420624" cy="42062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601200" y="5074920"/>
            <a:ext cx="914400" cy="9144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8088" y="5321808"/>
            <a:ext cx="420624" cy="42062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3232" y="8046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8288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students need a smarter way to study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715768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67004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chatbot is designed to achieve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557016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511296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chatbot reads, retrieves &amp; responds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98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35254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the assistant useful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0" y="1874520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86600" y="18288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building blocks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0" y="2715768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86600" y="267004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development process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0" y="3557016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86600" y="3511296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for the project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3232" y="80467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We're Solving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AI, Machine Learning and Data Science are taught through dense PDF notes and reference material. Finding a specific answer often means scrolling through dozens of pages — even when the information is right there.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2843784"/>
            <a:ext cx="146304" cy="14630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715768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searching long PDFs wastes valuable study time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3410712"/>
            <a:ext cx="146304" cy="14630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282696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are scattered across multiple documents and chapters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849624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(Ctrl+F) can't understand the meaning of a question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1520" y="4544568"/>
            <a:ext cx="146304" cy="14630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416552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instant, conversational access to their own course material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818120" y="1691640"/>
            <a:ext cx="3657600" cy="1298448"/>
          </a:xfrm>
          <a:prstGeom prst="roundRect">
            <a:avLst>
              <a:gd name="adj" fmla="val 7042"/>
            </a:avLst>
          </a:prstGeom>
          <a:solidFill>
            <a:srgbClr val="F1EEFC"/>
          </a:solidFill>
          <a:ln/>
          <a:effectLst>
            <a:outerShdw sx="100000" sy="100000" kx="0" ky="0" algn="bl" rotWithShape="0" blurRad="88900" dist="25400" dir="5400000">
              <a:srgbClr val="1A1A2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929384"/>
            <a:ext cx="822960" cy="82296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8919" y="2151583"/>
            <a:ext cx="378562" cy="37856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05256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Information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052560" y="22585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many lengthy PDF files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818120" y="3172968"/>
            <a:ext cx="3657600" cy="1298448"/>
          </a:xfrm>
          <a:prstGeom prst="roundRect">
            <a:avLst>
              <a:gd name="adj" fmla="val 7042"/>
            </a:avLst>
          </a:prstGeom>
          <a:solidFill>
            <a:srgbClr val="E7F8F5"/>
          </a:solidFill>
          <a:ln/>
          <a:effectLst>
            <a:outerShdw sx="100000" sy="100000" kx="0" ky="0" algn="bl" rotWithShape="0" blurRad="88900" dist="25400" dir="5400000">
              <a:srgbClr val="1A1A2E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0" y="3410712"/>
            <a:ext cx="822960" cy="8229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919" y="3632911"/>
            <a:ext cx="378562" cy="37856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052560" y="33558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Time-Consuming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9052560" y="373989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lost per question, every session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818120" y="4654296"/>
            <a:ext cx="3657600" cy="1298448"/>
          </a:xfrm>
          <a:prstGeom prst="roundRect">
            <a:avLst>
              <a:gd name="adj" fmla="val 7042"/>
            </a:avLst>
          </a:prstGeom>
          <a:solidFill>
            <a:srgbClr val="F1EEFC"/>
          </a:solidFill>
          <a:ln/>
          <a:effectLst>
            <a:outerShdw sx="100000" sy="100000" kx="0" ky="0" algn="bl" rotWithShape="0" blurRad="88900" dist="25400" dir="5400000">
              <a:srgbClr val="1A1A2E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046720" y="4892040"/>
            <a:ext cx="822960" cy="82296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919" y="5114239"/>
            <a:ext cx="378562" cy="37856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052560" y="483717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Keyword-Only Search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9052560" y="522122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understanding of natural language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3232" y="80467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591" y="1981871"/>
            <a:ext cx="260787" cy="2607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7830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 chatbot that answers questions on Python, AI, Machine Learning &amp; Data Science using provided PDF resources.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31520" y="2670048"/>
            <a:ext cx="566928" cy="56692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591" y="2823119"/>
            <a:ext cx="260787" cy="2607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62432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document retrieval pipeline that accurately extracts and indexes content from PDF study material.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731520" y="3511296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91" y="3664367"/>
            <a:ext cx="260787" cy="26078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346557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NLP techniques so the chatbot understands user queries and replies with context-aware answers.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731520" y="4352544"/>
            <a:ext cx="566928" cy="56692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591" y="4505615"/>
            <a:ext cx="260787" cy="26078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54480" y="430682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searching by delivering instant, reliable answers drawn directly from course content.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731520" y="5193792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91" y="5346863"/>
            <a:ext cx="260787" cy="26078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554480" y="514807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simple, interactive chat interface that makes self-paced learning more engaging.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3232" y="7589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Chatbot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A3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PREPARATION (OFFLINE)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960120" cy="96012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912" y="2225192"/>
            <a:ext cx="441655" cy="4416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999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Documents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3246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AI · ML · DS notes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874520" y="2276856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C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246120" y="1965960"/>
            <a:ext cx="960120" cy="96012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352" y="2225192"/>
            <a:ext cx="441655" cy="4416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34640" y="2999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834640" y="3246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text segments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251960" y="2276856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C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5623560" y="1965960"/>
            <a:ext cx="960120" cy="96012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792" y="2225192"/>
            <a:ext cx="441655" cy="44165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12080" y="2999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212080" y="3246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to vectors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6629400" y="2276856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C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8001000" y="1965960"/>
            <a:ext cx="960120" cy="96012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0232" y="2225192"/>
            <a:ext cx="441655" cy="44165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0" y="2999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Database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7589520" y="3246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index for search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8476488" y="3749040"/>
            <a:ext cx="0" cy="777240"/>
          </a:xfrm>
          <a:prstGeom prst="line">
            <a:avLst/>
          </a:prstGeom>
          <a:noFill/>
          <a:ln w="25400">
            <a:solidFill>
              <a:srgbClr val="C7CBEE"/>
            </a:solidFill>
            <a:prstDash val="dash"/>
            <a:tailEnd type="triangle"/>
          </a:ln>
        </p:spPr>
      </p:sp>
      <p:sp>
        <p:nvSpPr>
          <p:cNvPr id="25" name="Text 19"/>
          <p:cNvSpPr/>
          <p:nvPr/>
        </p:nvSpPr>
        <p:spPr>
          <a:xfrm>
            <a:off x="77724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ANSWERING FLOW (LIVE)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8001000" y="4526280"/>
            <a:ext cx="960120" cy="9601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0232" y="4785512"/>
            <a:ext cx="441655" cy="44165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589520" y="55595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Chunks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7589520" y="5806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closest matching text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7589520" y="4837176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C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◂</a:t>
            </a:r>
            <a:endParaRPr lang="en-US" sz="2200" dirty="0"/>
          </a:p>
        </p:txBody>
      </p:sp>
      <p:sp>
        <p:nvSpPr>
          <p:cNvPr id="31" name="Shape 24"/>
          <p:cNvSpPr/>
          <p:nvPr/>
        </p:nvSpPr>
        <p:spPr>
          <a:xfrm>
            <a:off x="5623560" y="4526280"/>
            <a:ext cx="960120" cy="9601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2792" y="4785512"/>
            <a:ext cx="441655" cy="44165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12080" y="55595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Generation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212080" y="5806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grounded answer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5212080" y="4837176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C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◂</a:t>
            </a:r>
            <a:endParaRPr lang="en-US" sz="2200" dirty="0"/>
          </a:p>
        </p:txBody>
      </p:sp>
      <p:sp>
        <p:nvSpPr>
          <p:cNvPr id="36" name="Shape 28"/>
          <p:cNvSpPr/>
          <p:nvPr/>
        </p:nvSpPr>
        <p:spPr>
          <a:xfrm>
            <a:off x="3246120" y="4526280"/>
            <a:ext cx="960120" cy="9601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5352" y="4785512"/>
            <a:ext cx="441655" cy="441655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2834640" y="55595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Response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2834640" y="5806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shown to student</a:t>
            </a:r>
            <a:endParaRPr lang="en-US" sz="950" dirty="0"/>
          </a:p>
        </p:txBody>
      </p:sp>
      <p:sp>
        <p:nvSpPr>
          <p:cNvPr id="40" name="Text 31"/>
          <p:cNvSpPr/>
          <p:nvPr/>
        </p:nvSpPr>
        <p:spPr>
          <a:xfrm>
            <a:off x="2834640" y="4837176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C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◂</a:t>
            </a:r>
            <a:endParaRPr lang="en-US" sz="2200" dirty="0"/>
          </a:p>
        </p:txBody>
      </p:sp>
      <p:sp>
        <p:nvSpPr>
          <p:cNvPr id="41" name="Shape 32"/>
          <p:cNvSpPr/>
          <p:nvPr/>
        </p:nvSpPr>
        <p:spPr>
          <a:xfrm>
            <a:off x="868680" y="4526280"/>
            <a:ext cx="960120" cy="9601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912" y="4785512"/>
            <a:ext cx="441655" cy="441655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457200" y="55595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Question</a:t>
            </a:r>
            <a:endParaRPr lang="en-US" sz="1150" dirty="0"/>
          </a:p>
        </p:txBody>
      </p:sp>
      <p:sp>
        <p:nvSpPr>
          <p:cNvPr id="44" name="Text 34"/>
          <p:cNvSpPr/>
          <p:nvPr/>
        </p:nvSpPr>
        <p:spPr>
          <a:xfrm>
            <a:off x="457200" y="5806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in natural language</a:t>
            </a:r>
            <a:endParaRPr lang="en-US" sz="950" dirty="0"/>
          </a:p>
        </p:txBody>
      </p:sp>
      <p:sp>
        <p:nvSpPr>
          <p:cNvPr id="45" name="Text 3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3232" y="80467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F1EEFC"/>
          </a:solidFill>
          <a:ln/>
          <a:effectLst>
            <a:outerShdw sx="100000" sy="100000" kx="0" ky="0" algn="bl" rotWithShape="0" blurRad="88900" dist="25400" dir="5400000">
              <a:srgbClr val="1A1A2E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2130552"/>
            <a:ext cx="685800" cy="68580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718" y="2315718"/>
            <a:ext cx="315468" cy="315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288036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Understanding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87552" y="320040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plain English, just like talking to a tutor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26280" y="1874520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E7F8F5"/>
          </a:solidFill>
          <a:ln/>
          <a:effectLst>
            <a:outerShdw sx="100000" sy="100000" kx="0" ky="0" algn="bl" rotWithShape="0" blurRad="88900" dist="25400" dir="5400000">
              <a:srgbClr val="1A1A2E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82312" y="2130552"/>
            <a:ext cx="685800" cy="6858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478" y="2315718"/>
            <a:ext cx="315468" cy="3154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82312" y="288036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Answers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782312" y="320040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the most relevant content before generating a response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321040" y="1874520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F1EEFC"/>
          </a:solidFill>
          <a:ln/>
          <a:effectLst>
            <a:outerShdw sx="100000" sy="100000" kx="0" ky="0" algn="bl" rotWithShape="0" blurRad="88900" dist="25400" dir="5400000">
              <a:srgbClr val="1A1A2E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77072" y="2130552"/>
            <a:ext cx="685800" cy="68580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2238" y="2315718"/>
            <a:ext cx="315468" cy="3154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77072" y="288036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Multi-Topic Knowledge Base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577072" y="320040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Python, AI, Machine Learning &amp; Data Science in one place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1520" y="3703320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F1EEFC"/>
          </a:solidFill>
          <a:ln/>
          <a:effectLst>
            <a:outerShdw sx="100000" sy="100000" kx="0" ky="0" algn="bl" rotWithShape="0" blurRad="88900" dist="25400" dir="5400000">
              <a:srgbClr val="1A1A2E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7552" y="3959352"/>
            <a:ext cx="685800" cy="68580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718" y="4144518"/>
            <a:ext cx="315468" cy="3154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7552" y="470916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Instant Responses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87552" y="502920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scrolling through pages of PDF notes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26280" y="3703320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E7F8F5"/>
          </a:solidFill>
          <a:ln/>
          <a:effectLst>
            <a:outerShdw sx="100000" sy="100000" kx="0" ky="0" algn="bl" rotWithShape="0" blurRad="88900" dist="25400" dir="5400000">
              <a:srgbClr val="1A1A2E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82312" y="3959352"/>
            <a:ext cx="685800" cy="6858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7478" y="4144518"/>
            <a:ext cx="315468" cy="3154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82312" y="470916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Source-Grounded Accuracy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782312" y="502920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generated from real reference material, not guesswork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321040" y="3703320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F1EEFC"/>
          </a:solidFill>
          <a:ln/>
          <a:effectLst>
            <a:outerShdw sx="100000" sy="100000" kx="0" ky="0" algn="bl" rotWithShape="0" blurRad="88900" dist="25400" dir="5400000">
              <a:srgbClr val="1A1A2E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77072" y="3959352"/>
            <a:ext cx="685800" cy="68580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2238" y="4144518"/>
            <a:ext cx="315468" cy="3154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77072" y="470916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Chat Interface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577072" y="502920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easy-to-use interface built for students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3232" y="8046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Technologies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F1EEFC"/>
          </a:solidFill>
          <a:ln/>
          <a:effectLst>
            <a:outerShdw sx="100000" sy="100000" kx="0" ky="0" algn="bl" rotWithShape="0" blurRad="88900" dist="25400" dir="5400000">
              <a:srgbClr val="1A1A2E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48840" y="2093976"/>
            <a:ext cx="777240" cy="77724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8695" y="2303831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535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26280" y="1874520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F1EEFC"/>
          </a:solidFill>
          <a:ln/>
          <a:effectLst>
            <a:outerShdw sx="100000" sy="100000" kx="0" ky="0" algn="bl" rotWithShape="0" blurRad="88900" dist="25400" dir="5400000">
              <a:srgbClr val="1A1A2E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0" y="2093976"/>
            <a:ext cx="777240" cy="77724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455" y="2303831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29535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Libraries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709160" y="32461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processing &amp; understanding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321040" y="1874520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F1EEFC"/>
          </a:solidFill>
          <a:ln/>
          <a:effectLst>
            <a:outerShdw sx="100000" sy="100000" kx="0" ky="0" algn="bl" rotWithShape="0" blurRad="88900" dist="25400" dir="5400000">
              <a:srgbClr val="1A1A2E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738360" y="2093976"/>
            <a:ext cx="777240" cy="77724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215" y="2303831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29535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Models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503920" y="32461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into semantic vectors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1520" y="3703320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E7F8F5"/>
          </a:solidFill>
          <a:ln/>
          <a:effectLst>
            <a:outerShdw sx="100000" sy="100000" kx="0" ky="0" algn="bl" rotWithShape="0" blurRad="88900" dist="25400" dir="5400000">
              <a:srgbClr val="1A1A2E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148840" y="3922776"/>
            <a:ext cx="777240" cy="7772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8695" y="4132631"/>
            <a:ext cx="357530" cy="3575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47823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Database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4400" y="50749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semantic similarity search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526280" y="3703320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E7F8F5"/>
          </a:solidFill>
          <a:ln/>
          <a:effectLst>
            <a:outerShdw sx="100000" sy="100000" kx="0" ky="0" algn="bl" rotWithShape="0" blurRad="88900" dist="25400" dir="5400000">
              <a:srgbClr val="1A1A2E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943600" y="3922776"/>
            <a:ext cx="777240" cy="7772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455" y="4132631"/>
            <a:ext cx="357530" cy="35753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09160" y="47823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Model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709160" y="50749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natural, grounded answers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321040" y="3703320"/>
            <a:ext cx="3611880" cy="1627632"/>
          </a:xfrm>
          <a:prstGeom prst="roundRect">
            <a:avLst>
              <a:gd name="adj" fmla="val 5618"/>
            </a:avLst>
          </a:prstGeom>
          <a:solidFill>
            <a:srgbClr val="E7F8F5"/>
          </a:solidFill>
          <a:ln/>
          <a:effectLst>
            <a:outerShdw sx="100000" sy="100000" kx="0" ky="0" algn="bl" rotWithShape="0" blurRad="88900" dist="25400" dir="5400000">
              <a:srgbClr val="1A1A2E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738360" y="3922776"/>
            <a:ext cx="777240" cy="7772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8215" y="4132631"/>
            <a:ext cx="357530" cy="35753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03920" y="47823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Interface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503920" y="50749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chat front-end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3232" y="8046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Methodology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31546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35661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 PDF resources covering Python, AI, ML &amp; Data Science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89888" y="235000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C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52928" y="2377440"/>
            <a:ext cx="640080" cy="6400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0" name="Text 8"/>
          <p:cNvSpPr/>
          <p:nvPr/>
        </p:nvSpPr>
        <p:spPr>
          <a:xfrm>
            <a:off x="2852928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32888" y="31546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32888" y="35661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and cleaned text, split into manageable chunks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11296" y="235000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C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974336" y="2377440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/>
          <p:nvPr/>
        </p:nvSpPr>
        <p:spPr>
          <a:xfrm>
            <a:off x="4974336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54296" y="31546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&amp; Indexing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54296" y="35661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text chunks into vectors and stored them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32704" y="235000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C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095744" y="2377440"/>
            <a:ext cx="640080" cy="6400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0" name="Text 18"/>
          <p:cNvSpPr/>
          <p:nvPr/>
        </p:nvSpPr>
        <p:spPr>
          <a:xfrm>
            <a:off x="7095744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75704" y="31546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Integration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75704" y="35661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the retrieval system with the language model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54112" y="235000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C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217152" y="2377440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5" name="Text 23"/>
          <p:cNvSpPr/>
          <p:nvPr/>
        </p:nvSpPr>
        <p:spPr>
          <a:xfrm>
            <a:off x="9217152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897112" y="31546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Evaluation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97112" y="35661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chatbot responses for accuracy and relevance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3232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1C2348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194560"/>
            <a:ext cx="731520" cy="7315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070" y="2392070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51560" y="3154680"/>
            <a:ext cx="44348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7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shows how AI and NLP can turn static PDF study material into an interactive learning assistant — helping students get instant, accurate answers on Python, AI, Machine Learning and Data Science without manually searching through pages of notes.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63640" y="1920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2423160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9428" y="2558948"/>
            <a:ext cx="231343" cy="231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240487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knowledge base to cover more subjects and resources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3264408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428" y="3400196"/>
            <a:ext cx="231343" cy="231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324612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voice-based interaction for hands-free learning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4105656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9428" y="4241444"/>
            <a:ext cx="231343" cy="23134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408736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web or mobile app for wider accessibility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6263640" y="4946904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9428" y="5082692"/>
            <a:ext cx="231343" cy="23134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949440" y="4928616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learner feedback to continuously improve answer accuracy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0" y="17830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58288" y="2743200"/>
            <a:ext cx="3108960" cy="2011680"/>
          </a:xfrm>
          <a:prstGeom prst="roundRect">
            <a:avLst>
              <a:gd name="adj" fmla="val 5455"/>
            </a:avLst>
          </a:prstGeom>
          <a:solidFill>
            <a:srgbClr val="1C2348"/>
          </a:solidFill>
          <a:ln/>
        </p:spPr>
      </p:sp>
      <p:sp>
        <p:nvSpPr>
          <p:cNvPr id="5" name="Shape 3"/>
          <p:cNvSpPr/>
          <p:nvPr/>
        </p:nvSpPr>
        <p:spPr>
          <a:xfrm>
            <a:off x="3855568" y="3035808"/>
            <a:ext cx="914400" cy="91440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2456" y="3282696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41168" y="4041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Azalfah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941168" y="43708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24448" y="2743200"/>
            <a:ext cx="3108960" cy="2011680"/>
          </a:xfrm>
          <a:prstGeom prst="roundRect">
            <a:avLst>
              <a:gd name="adj" fmla="val 5455"/>
            </a:avLst>
          </a:prstGeom>
          <a:solidFill>
            <a:srgbClr val="1C2348"/>
          </a:solidFill>
          <a:ln/>
        </p:spPr>
      </p:sp>
      <p:sp>
        <p:nvSpPr>
          <p:cNvPr id="10" name="Shape 7"/>
          <p:cNvSpPr/>
          <p:nvPr/>
        </p:nvSpPr>
        <p:spPr>
          <a:xfrm>
            <a:off x="7421728" y="3035808"/>
            <a:ext cx="914400" cy="9144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616" y="3282696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07328" y="4041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Aqsa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07328" y="43708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718408" y="5166360"/>
            <a:ext cx="548640" cy="54864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540" y="5314493"/>
            <a:ext cx="252374" cy="25237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04208" y="5166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Ma'am Sumaira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PDF-Powered AI Chatbot — Final Year Project</dc:title>
  <dc:subject>PptxGenJS Presentation</dc:subject>
  <dc:creator>Azalfah &amp; Aqsa</dc:creator>
  <cp:lastModifiedBy>Azalfah &amp; Aqsa</cp:lastModifiedBy>
  <cp:revision>1</cp:revision>
  <dcterms:created xsi:type="dcterms:W3CDTF">2026-06-20T19:28:34Z</dcterms:created>
  <dcterms:modified xsi:type="dcterms:W3CDTF">2026-06-20T19:28:34Z</dcterms:modified>
</cp:coreProperties>
</file>